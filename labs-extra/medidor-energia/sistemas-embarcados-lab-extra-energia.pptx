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(3 min). Apresente o módulo fisicamente: um medidor de energia CA completo do tamanho de um isqueiro, com garra que abraça o fio sem tocá-lo.
Diga o que torna este lab especial: é o único do semestre que mede o mundo elétrico "grande", e integra semanas 7, 9, 11, 12 e 14 num experimento só.
Mas ANTES de qualquer entusiasmo, vá para o próximo slide. Segurança primeiro, sempre.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SEGURANÇA (6 min — NÃO ABREVIE). Leia este slide em voz alta, inteiro, com a turma em silêncio. Não pule, não resuma, não trate como formalidade.
Deixe explícito o contrato: o lado CA é seu, exclusivamente seu. Aluno toca apenas nos 4 fios TTL.
Mostre fisicamente a caixa isolada e o disjuntor a montante. Aponte onde ninguém encosta.
Combine o protocolo da aula: qualquer manuseio acontece com a bancada desenergizada, e quem energiza é você.
Peça confirmação verbal da turma antes de seguir. Se alguém não estiver levando a sério, pare 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ORIENTAÇÃO (4 min). Objetivo e material. Confirme as três cargas de teste — incandescente, LED e ventilador — porque é o trio que prova o Exemplo E.2.
Explique a inversão de lente em relação à semana 1: lá estimávamos autonomia em miliampères; aqui medimos quilowatts reais.
Diga que a surpresa do dia é descobrir que a lâmpada "econômica" pode ter fator de potência pior que a incandescente.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(10 s). Primeiro: entender CA de verdade.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CONTEÚDO + EXEMPLO (8 min). Comece pelo susto pedagógico: os 220 V da tomada NÃO são o pico da senoide; o pico é ~311 V. Deixe a informação assentar.
Explique o RMS pela definição funcional: é o valor que entrega a mesma potência média que uma tensão CC equivalente.
Faça a conexão com a semana 7, que é o que amarra este lab ao curso: para medir RMS é preciso AMOSTRAR rápido e uniformemente. O que eles fizeram com o LDR a 20 Hz, o PZEM faz com a rede a milhares de Hz, internamente.
No Exemplo E.1, o ponto crucial é: a média das amostras dá ZERO, porque é CA. Por isso não se usa média em CA — usa-se a raiz da média dos quadrados. Pergunte à turma por que a média dá zero antes de revelar.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(10 s). O conceito central do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CONTEÚDO (9 min). Comece pelo contraste: em CC potência é V·I e acabou; em CA a corrente pode estar defasada da tensão.
Percorra as três potências dando a pergunta que cada uma responde: ativa é o que a conta cobra; aparente é o que a fiação precisa suportar; reativa é o que vai e volta sem virar trabalho.
Desenhe o triângulo de potências no quadro — é a figura definitiva desta aula, e vale mais que qualquer slide.
Explique por que o FP importa economicamente: a indústria paga multa por FP baixo e instala capacitores de correção. Isso conecta a disciplina com a realidade profissional de um engenheiro eletricista.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CENTRAL (7 min). Faça o Exemplo E.2 no quadro, passo a passo, com a turma acompanhando as contas.
Chegue ao Q de 66 var e interprete: a fiação carrega 110 VA mas só 88 W viram vento.
O fecho é a caixa âmbar, e é o argumento de existência do equipamento: medir só corrente e multiplicar por 220 superestimaria o consumo em 25 %.
Diga que na Parte C eles vão comprovar isso com três cargas — e que o resultado da lâmpada de LED costuma surpreender.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(10 s). Como medir corrente com segurança.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CONTEÚDO + EXEMPLO (7 min). Faça a pergunta antes de responder: "como medir 100 A sem cortar o fio nem se eletrocutar?".
Explique o CT como transformador: o fio é o primário de uma volta, a garra é o secundário de muitas voltas. Mostre a garra abrindo e fechando.
Faça o Exemplo E.3: 30 A viram 30 mA no secundário, que sobre 10 Ω viram 0,30 V. Uma tensão pequena e segura.
A conexão conceitual que vale ouro: é o divisor de tensão da semana 7 em versão magnética — mesma ideia de transformar grandeza física em tensão pequena.
Termine com a isolação galvânica e diga por que o CT é a parte SEGURA: o perigo está na medição de tensão, que exige contato com a rede. Por isso essa parte é sua.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(10 s). Agora o protocolo.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CONTEÚDO (8 min). Enquadre o salto: na semana 9 a UART carregava texto solto do printf. Agora carrega um protocolo industrial usado em CLPs, inversores e medidores do mundo todo.
Destaque a camada física — 9600 8N1, exatamente o frame da semana 9 — e o modelo mestre-escravo, em que ninguém fala sem ser perguntado. Isso é determinístico e simples, e é por isso que a indústria gosta.
Percorra o quadro da função 0x04.
No CRC, faça a série de conexões: é o mesmo espírito do checksum do DHT11 e do CRC do CAN. E acrescente o argumento local: num fio que corre ao lado de 220 V, verificar cada byte não é luxo, é necessidade.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CONTEÚDO + EXEMPLO (8 min). Mande imprimir esta tabela e colar na bancada, como fizeram com o pinout do RPi.
Faça a pergunta que revela o entendimento: por que a corrente ocupa dois registradores e a tensão só um? Conduza até a resposta — 100 A com resolução de 0,001 A dá 100 mil passos, e 16 bits só chegam a 65535.
No Exemplo E.4, decodifique ao vivo: 0x0898 dá 2200, vezes 0,1 V dá 220,0 V.
Não deixe passar a ordem low-depois-high: é a endianness da semana 3 aparecendo pela terceira vez no curso, agora dentro de um protocolo industrial. Se eles reclamarem que endianness persegue, diga que sim — e é por isso que insistimos.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CONTEÚDO (6 min). Percorra o diagrama mostrando onde termina o seu domínio (lado CA) e onde começa o deles (TTL para a direita).
Apresente os dois caminhos e diga qual a bancada vai usar hoje.
O painel em reais é o fecho de valor: transformar bytes de um registrador em "quanto custa deixar isso ligado" é o argumento de venda de qualquer projeto de eficiência energética — e um ótimo gancho para o projeto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TRANSIÇÃO. Mãos à obra: protocolo no papel, depois o nó.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CONDUÇÃO (25 min). Exija a Parte A ANTES do código. Montar o quadro Modbus no papel e conferir contra o req[] do firmware é o que diferencia usar biblioteca de entender protocolo.
Circule cobrando as três respostas, principalmente a do CRC.
Na Parte B, confira as conexões TTL bancada por bancada com a energia DESLIGADA.
O erro clássico será esquecer o fio de 5 V achando que só RX/TX bastam. Antecipe: sem o 5 V os optoacopladores não são alimentados e não há comunicação nenhuma. Diga que é o "SDA/SCL invertido" da semana 9 em nova roupa.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CONDUÇÃO (20 min). Só energize a carga depois de conferir todas as bancadas. Faça isso você, anunciando em voz alta.
Quando as leituras aparecerem, deixe o momento respirar: é a primeira vez no semestre que eles medem o mundo elétrico real.
Falhas ocasionais de CRC são toleráveis e devem ser tratadas como o DHT11 do Lab 12 — tenta de novo. Se for sempre, o problema é conexão.
Peça que validem o barramento MQTT com mosquitto_sub antes de qualquer suspeita de firmware: método "multímetro primeiro" do Lab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TRANSIÇÃO. O experimento central.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CONDUÇÃO (40 min). Este é o coração do lab; reserve tempo generoso.
Meça as três cargas com a turma reunida, uma de cada vez, você operando o lado CA.
Peça que preencham a tabela e calculem S e P/S ANTES de você comentar.
A sequência pedagógica ideal: comece pela incandescente (FP ≈ 1, a referência), depois o ventilador (FP &lt; 1, calcule o Q), e deixe a lâmpada de LED por último, para o efeito de surpresa.
Quando o LED mostrar FP entre 0,5 e 0,7, pare e pergunte: "esta é a lâmpada econômica, certo?". A discussão que se segue vale a aula inteira — eficiência energética não é só consumo em watts.
A pergunta C.8 fecha: qual carga seria mais superestimada por um amperímetro?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CONDUÇÃO (30 min). O painel em reais é o que dá sentido prático a tudo.
Ajuste a tarifa para a local (EDP ES) antes de rodar; peça que procurem o valor na conta de luz de casa se não souberem.
Deixe o ventilador rodando os 15 minutos e acompanhem a energia subir. A extrapolação para o mês é a conta que, como diz o roteiro, todo mundo deveria saber fazer.
A Parte E é opcional; ofereça a quem terminou. A pergunta comparativa (ESP32 remoto × RPi direto) é excelente para o projeto final: distância, número de pontos, custo, e a lição MCU × Linux das semanas 11 a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 (8 min). Revise a entrega item a item; a tabela das três cargas com a discussão é o item de maior peso.
Reserve tempo para as ideias de projeto final do slide — este lab é um trampolim natural, e vários grupos vão querer seguir por aqui.
Termine desenergizando tudo com a turma presente, verbalizando cada passo. A última lição da aula também é de segurança: desmontar com método faz parte do 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2A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LABORATÓRIO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42316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Medição de energia real:</a:t>
            </a:r>
            <a:endParaRPr lang="en-US" sz="4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CA, fator de potência e Modbus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4114800"/>
            <a:ext cx="1463040" cy="45720"/>
          </a:xfrm>
          <a:prstGeom prst="rect">
            <a:avLst/>
          </a:prstGeom>
          <a:solidFill>
            <a:srgbClr val="F2A41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29768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E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miliampère estimado ao quilowatt medido — com um protocolo industrial de verdade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59436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LAB EXTRA  ·  2–3 aulas · trilha de projeto final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52578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ENVOLVE REDE ELÉTRICA DE 220 V — LADO CA SOMENTE PELO PROFESSOR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190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EMBARCADOS</a:t>
            </a:r>
            <a:pPr algn="l" indent="0" marL="0">
              <a:buNone/>
            </a:pPr>
            <a:r>
              <a:rPr lang="en-US" sz="900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Lab Extra — Medidor de energia PZEM-004T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41280" y="64190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EXTRA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64240" cy="5486400"/>
          </a:xfrm>
          <a:prstGeom prst="roundRect">
            <a:avLst>
              <a:gd name="adj" fmla="val 1333"/>
            </a:avLst>
          </a:prstGeom>
          <a:solidFill>
            <a:srgbClr val="3A1D0B"/>
          </a:solidFill>
          <a:ln w="38100">
            <a:solidFill>
              <a:srgbClr val="F2A4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7724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41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⚠  AVISO DE SEGURANÇA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ANTES DE QUALQUER COISA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10332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se conecta à rede elétrica de 220 V, que MATA.
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 lado de corrente alternada — ligação de L/N e posição da garra CT no fio fase — é montado, isolado e energizado EXCLUSIVAMENTE pelo professor.
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Montagem em caixa ou sobre base isolante, disjuntor a montante, bancada desenergizada durante qualquer manuseio.
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FE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 aluno trabalha SOMENTE no lado TTL de baixa tensão: os 4 fios 5V / GND / RX / TX que vão ao ESP32 ou ao RPi.
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Nunca abra, toque ou remonte o lado CA com a rede ligada.
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2A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caso de dúvida, pergunte — eletricidade não perdoa improviso.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190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EMBARCADOS</a:t>
            </a:r>
            <a:pPr algn="l" indent="0" marL="0">
              <a:buNone/>
            </a:pPr>
            <a:r>
              <a:rPr lang="en-US" sz="900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Lab Extra — Medidor de energia PZEM-004T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41280" y="64190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EXTRA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11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Objetivo e material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A6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44475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5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938528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Ler o PZEM-004T por Modbus-RTU (ESP32 e RPi)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Medir grandezas reais de cargas de bancada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Comprovar na prática potência ativa × aparente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Publicar o consumo (com custo em R$) via MQTT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280160"/>
            <a:ext cx="5349240" cy="2560320"/>
          </a:xfrm>
          <a:prstGeom prst="roundRect">
            <a:avLst>
              <a:gd name="adj" fmla="val 2857"/>
            </a:avLst>
          </a:prstGeom>
          <a:solidFill>
            <a:srgbClr val="EAF3EE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A6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92240" y="144475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5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92240" y="1938528"/>
            <a:ext cx="4892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PZEM-004T v3.0 + CT de núcleo partido (em caixa isolada, montado pelo professor)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ESP32; RPi 3 com broker (Lab 14)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Adaptador USB-TTL (caminho RPi direto)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Cargas: lâmpada incandescente, lâmpada de LED e ventilador — o trio que prova o Exemplo E.2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11064240" cy="1463040"/>
          </a:xfrm>
          <a:prstGeom prst="roundRect">
            <a:avLst>
              <a:gd name="adj" fmla="val 3750"/>
            </a:avLst>
          </a:prstGeom>
          <a:solidFill>
            <a:srgbClr val="16261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02336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este lab é especial: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semana 1, o Exemplo 1.1 estimou autonomia a partir de miliampères. Agora invertemos a lente e medimos o consumo REAL de aparelhos de verdade — descobrindo, com números, por que o ventilador "consome" mais VA do que W e por que a lâmpada de LED maltrata a rede.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190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EMBARCADOS</a:t>
            </a:r>
            <a:pPr algn="l" indent="0" marL="0">
              <a:buNone/>
            </a:pPr>
            <a:r>
              <a:rPr lang="en-US" sz="900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Lab Extra — Medidor de energia PZEM-004T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41280" y="64190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EXTRA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2743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C5E3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2926080" y="265176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Corrente alternada e valor RMS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971800" y="3977640"/>
            <a:ext cx="1280160" cy="45720"/>
          </a:xfrm>
          <a:prstGeom prst="rect">
            <a:avLst/>
          </a:prstGeom>
          <a:solidFill>
            <a:srgbClr val="F2A41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190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EMBARCADOS</a:t>
            </a:r>
            <a:pPr algn="l" indent="0" marL="0">
              <a:buNone/>
            </a:pPr>
            <a:r>
              <a:rPr lang="en-US" sz="900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Lab Extra — Medidor de energia PZEM-004T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241280" y="64190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EXTRA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11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Os "220 V" não são o pico da senoide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6261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FE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v(t) = V_pico · sin(2π·60·t)        V_pico ≈ 311 V  para os "220 V" nominais!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A6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45059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5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RMS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94436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eficaz: aquele que faz a senoide CA entregar a MESMA potência média que uma tensão CC de igual valor.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senoide: V_RMS = V_pico/√2 → 311/√2 ≈ 220 V ✓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228600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FF6E8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A6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245059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semana 7 volta com tudo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944368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é literalmente a raiz da média dos quadrados. Para medi-lo, o PZEM AMOSTRA a senoide muitas vezes por ciclo (Nyquist!), eleva ao quadrado, tira a média e a raiz.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Amostrasse devagar demais: aliasing e medida errada.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EAF3EE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A6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42793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5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E.1 — RMS de um sinal amostrado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47731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amostras de corrente num ciclo, de 0 a ±10 A. A média dá ~0 — é CA! Por isso NÃO se usa média para medir CA.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a média dos QUADRADOS dá ~50 A²; a raiz dá I_RMS ≈ 7,07 A (coerente com pico 10/√2). O valor que importa em CA é sempre o RMS, e obtê-lo exige amostrar rápido e uniformemente — PDS puro.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190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EMBARCADOS</a:t>
            </a:r>
            <a:pPr algn="l" indent="0" marL="0">
              <a:buNone/>
            </a:pPr>
            <a:r>
              <a:rPr lang="en-US" sz="900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Lab Extra — Medidor de energia PZEM-004T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241280" y="64190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EXTRA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2743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C5E3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2926080" y="265176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Potência ativa, aparente e reativa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971800" y="3977640"/>
            <a:ext cx="1280160" cy="45720"/>
          </a:xfrm>
          <a:prstGeom prst="rect">
            <a:avLst/>
          </a:prstGeom>
          <a:solidFill>
            <a:srgbClr val="F2A41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190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EMBARCADOS</a:t>
            </a:r>
            <a:pPr algn="l" indent="0" marL="0">
              <a:buNone/>
            </a:pPr>
            <a:r>
              <a:rPr lang="en-US" sz="900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Lab Extra — Medidor de energia PZEM-004T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241280" y="64190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EXTRA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11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Em CA, a potência se parte em três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CC, potência é V·I e acabou. Em CA, a corrente pode estar DEFASADA da tensão (motores atrasam; capacitores adiantam) — e isso parte a potência: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EAF3EE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A6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1305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5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  P  (W)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62432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 realmente vira trabalho ou calor — a que a concessionária COBRA.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V·I·cos φ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79392" y="196596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A6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07992" y="21305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5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Aparente  S  (VA)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07992" y="262432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ingênuo V·I — o que a fiação e os transformadores precisam SUPORTAR, haja defasagem ou não.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10144" y="196596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A6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38744" y="21305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5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Reativa  Q  (var)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38744" y="262432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 vai e volta entre a fonte e os campos da carga sem virar trabalho.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V·I·sin 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11064240" cy="1325880"/>
          </a:xfrm>
          <a:prstGeom prst="roundRect">
            <a:avLst>
              <a:gd name="adj" fmla="val 4138"/>
            </a:avLst>
          </a:prstGeom>
          <a:solidFill>
            <a:srgbClr val="16261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60520"/>
            <a:ext cx="10607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4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S² = P² + Q²        FP = P/S = cos φ
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= 1 é o ideal (carga resistiva pura). FP baixo significa ocupar a rede com corrente que não faz trabalho — por isso a indústria paga multa por FP baixo e usa capacitores de correção.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4190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EMBARCADOS</a:t>
            </a:r>
            <a:pPr algn="l" indent="0" marL="0">
              <a:buNone/>
            </a:pPr>
            <a:r>
              <a:rPr lang="en-US" sz="900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Lab Extra — Medidor de energia PZEM-004T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241280" y="64190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EXTRA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11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Exemplo E.2 — o ventilador enganador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852160" cy="2377440"/>
          </a:xfrm>
          <a:prstGeom prst="roundRect">
            <a:avLst>
              <a:gd name="adj" fmla="val 3077"/>
            </a:avLst>
          </a:prstGeom>
          <a:solidFill>
            <a:srgbClr val="EAF3EE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A6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49047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5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no PZEM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984248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220 V · I = 0,50 A · P = 88 W · FP = 0,80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220 · 0,50 = 110 VA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S · FP = 110 · 0,80 = 88 W 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√(110² − 88²) = √4356 = 66 var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29400" y="1325880"/>
            <a:ext cx="49834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A6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0" y="14904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5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Interpretação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0" y="1984248"/>
            <a:ext cx="4526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fiação carrega 110 VA (0,5 A), mas só 88 W viram vento.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var ficam circulando por causa do motor indutivo — ocupam a rede sem produzir trabalho.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1600200"/>
          </a:xfrm>
          <a:prstGeom prst="roundRect">
            <a:avLst>
              <a:gd name="adj" fmla="val 3429"/>
            </a:avLst>
          </a:prstGeom>
          <a:solidFill>
            <a:srgbClr val="FFF6E8"/>
          </a:solidFill>
          <a:ln w="15875">
            <a:solidFill>
              <a:srgbClr val="F2A4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0233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2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basta um amperímetro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4348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você medisse só a corrente (0,5 A) e multiplicasse por 220, superestimaria o consumo real em 25 %.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exatamente por isso que existe medidor de potência ATIVA — e é o experimento central deste laboratório: três cargas, três fatores de potência, uma surpresa.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190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EMBARCADOS</a:t>
            </a:r>
            <a:pPr algn="l" indent="0" marL="0">
              <a:buNone/>
            </a:pPr>
            <a:r>
              <a:rPr lang="en-US" sz="900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Lab Extra — Medidor de energia PZEM-004T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241280" y="64190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EXTRA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2743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C5E3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2926080" y="265176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 transformador de corrente (CT)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971800" y="3977640"/>
            <a:ext cx="1280160" cy="45720"/>
          </a:xfrm>
          <a:prstGeom prst="rect">
            <a:avLst/>
          </a:prstGeom>
          <a:solidFill>
            <a:srgbClr val="F2A41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190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EMBARCADOS</a:t>
            </a:r>
            <a:pPr algn="l" indent="0" marL="0">
              <a:buNone/>
            </a:pPr>
            <a:r>
              <a:rPr lang="en-US" sz="900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Lab Extra — Medidor de energia PZEM-004T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241280" y="64190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EXTRA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11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Medir 100 A sem cortar o fio nem se eletrocutar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fio da rede é o primário (1 volta); a garra contém o secundário (muitas voltas) num núcleo de ferrite que se FECHA em volta do fio — por isso "núcleo partido". O campo magnético alternado induz uma corrente proporcional, muito menor e isolada.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EAF3EE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A6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40487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5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E.3 — o CT 1000:1, burden 10 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898648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Passam 30 A no fio da carga.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I_sec = 30/1000 = 30 mA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sobre o burden = 0,030 · 10 = 0,30 V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tensão pequena e segura, que o PZEM digitaliza.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22402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6E8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A6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40487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divisor da semana 7 — em versão magnética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898648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ideia: transformar uma grandeza física numa tensão pequena que o conversor entende. Agora por indução, e para corrente.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38912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16261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3891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Isolação galvânica: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circuito de medição de corrente NUNCA toca os 220 V. Por isso o CT é a parte segura do conjunto — o perigo está na medição de TENSÃO, que exige contato com a rede (e por isso é do professor).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4190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EMBARCADOS</a:t>
            </a:r>
            <a:pPr algn="l" indent="0" marL="0">
              <a:buNone/>
            </a:pPr>
            <a:r>
              <a:rPr lang="en-US" sz="900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Lab Extra — Medidor de energia PZEM-004T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241280" y="64190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EXTRA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2743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C5E3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2926080" y="265176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Modbus-RTU: protocolo industrial na UART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971800" y="3977640"/>
            <a:ext cx="1280160" cy="45720"/>
          </a:xfrm>
          <a:prstGeom prst="rect">
            <a:avLst/>
          </a:prstGeom>
          <a:solidFill>
            <a:srgbClr val="F2A41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190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EMBARCADOS</a:t>
            </a:r>
            <a:pPr algn="l" indent="0" marL="0">
              <a:buNone/>
            </a:pPr>
            <a:r>
              <a:rPr lang="en-US" sz="900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Lab Extra — Medidor de energia PZEM-004T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241280" y="64190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EXTRA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11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Na semana 9 a UART levava texto; agora leva Modbus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física: UART 9600 8N1 — exatamente o frame da semana 9. Modelo mestre-escravo: o mestre (ESP32/RPi) pergunta, o escravo (PZEM, endereço 0xF8) responde. Ninguém fala sem ser perguntado.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1691640"/>
          </a:xfrm>
          <a:prstGeom prst="roundRect">
            <a:avLst>
              <a:gd name="adj" fmla="val 2703"/>
            </a:avLst>
          </a:prstGeom>
          <a:solidFill>
            <a:srgbClr val="0A1512"/>
          </a:solidFill>
          <a:ln w="12700">
            <a:solidFill>
              <a:srgbClr val="0C5E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2140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0x04 — READ INPUT REGISTERS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FE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mestre -&gt; escravo: [addr][0x04][reg_ini_H][reg_ini_L][n_regs_H][n_regs_L][CRC_L][CRC_H]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FE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escravo -&gt; mestre: [addr][0x04][n_bytes][dado0_H][dado0_L]...[CRC_L][CRC_H]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88620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FF6E8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A6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40507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CRC-16 (polinômio 0xA001) fecha cada quadro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45445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receptor recalcula e compara; se não bater, descarta. É o mesmo espírito do checksum do DHT11 (semana 12) e do CRC do CAN (semana 10): detecção de erro em fio ruidoso.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do texto solto do printf, aqui CADA BYTE é verificado — e num fio que corre ao lado de 220 V, isso não é luxo.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190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EMBARCADOS</a:t>
            </a:r>
            <a:pPr algn="l" indent="0" marL="0">
              <a:buNone/>
            </a:pPr>
            <a:r>
              <a:rPr lang="en-US" sz="900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Lab Extra — Medidor de energia PZEM-004T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241280" y="64190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EXTRA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11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 mapa de registradores — a tabela de tesouro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017520"/>
                <a:gridCol w="2194560"/>
                <a:gridCol w="31089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Registrador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Grandeza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E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C5E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0x0000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 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bits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C5E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0x0001–0x0002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0,001 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bits (low + high)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C5E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0x0003–0x0004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Potência ativa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 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bits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C5E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0x0005–0x0006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Wh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bits (acumula!)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C5E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0x0007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Frequência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 Hz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bits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C5E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0x0008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Fator de potência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bits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C5E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0x0009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Alarme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0xFFFF = acima do limiar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38912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EAF3EE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A6">
                <a:alpha val="3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77240" y="455371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5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E.4 — decodificando uma resposta real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77240" y="504748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0x08 0x98 no registrador 0x0000 → 0x0898 = 2200 → × 0,1 V = 220,0 V. Corrente em dois registradores: 0x0000 (high) e 0x03E8 (low) → 1000 × 0,001 A = 1,000 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Repare na ordem low-depois-high: a endianness da semana 3 cobrando ingresso, agora dentro de um protocolo industrial.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190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EMBARCADOS</a:t>
            </a:r>
            <a:pPr algn="l" indent="0" marL="0">
              <a:buNone/>
            </a:pPr>
            <a:r>
              <a:rPr lang="en-US" sz="900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Lab Extra — Medidor de energia PZEM-004T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241280" y="64190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EXTRA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11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arquitetura: os dois mundos, de novo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2651760"/>
          </a:xfrm>
          <a:prstGeom prst="roundRect">
            <a:avLst>
              <a:gd name="adj" fmla="val 1724"/>
            </a:avLst>
          </a:prstGeom>
          <a:solidFill>
            <a:srgbClr val="0A1512"/>
          </a:solidFill>
          <a:ln w="12700">
            <a:solidFill>
              <a:srgbClr val="0C5E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8988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 V → PZEM → TTL → ESP32 → MQTT → RPi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106070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FE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220 V --+-- carga (lampada/ventilador) --+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FE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|     [ CT abraca o fio ]        |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FE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                                |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FE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 PZEM-004T ] &lt;-- L/N (medicao de tensao: lado do professor)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FE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| UART 9600 8N1 (4 fios: 5V/GND/RX/TX)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FE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 ESP32 ] --- Wi-Fi/MQTT: energia/# ---&gt; [ RPi 3: Mosquitto + painel + CSV ]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4069080"/>
            <a:ext cx="54864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A6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423367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5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caminhos, ambos no repositório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4727448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(src/pzem_esp32/): lê Modbus e publica — o nó sensor clássico.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RPi direto (src/rpi/pzem_rpi.py): lê por adaptador USB-TTL quando não há ESP32 sobrando.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4069080"/>
            <a:ext cx="5349240" cy="1645920"/>
          </a:xfrm>
          <a:prstGeom prst="roundRect">
            <a:avLst>
              <a:gd name="adj" fmla="val 4444"/>
            </a:avLst>
          </a:prstGeom>
          <a:solidFill>
            <a:srgbClr val="FFF6E8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A6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423367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painel fecha em reais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4727448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painel_energia.py assina energia/#, grava CSV e calcula o custo em R$ pela tarifa local — bytes de um registrador viram "quanto custa deixar isso ligado".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190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EMBARCADOS</a:t>
            </a:r>
            <a:pPr algn="l" indent="0" marL="0">
              <a:buNone/>
            </a:pPr>
            <a:r>
              <a:rPr lang="en-US" sz="900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Lab Extra — Medidor de energia PZEM-004T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241280" y="64190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EXTRA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2743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C5E3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A·B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2926080" y="265176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Reconhecer o protocolo e ligar o nó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971800" y="3977640"/>
            <a:ext cx="1280160" cy="45720"/>
          </a:xfrm>
          <a:prstGeom prst="rect">
            <a:avLst/>
          </a:prstGeom>
          <a:solidFill>
            <a:srgbClr val="F2A41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190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EMBARCADOS</a:t>
            </a:r>
            <a:pPr algn="l" indent="0" marL="0">
              <a:buNone/>
            </a:pPr>
            <a:r>
              <a:rPr lang="en-US" sz="900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Lab Extra — Medidor de energia PZEM-004T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241280" y="64190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EXTRA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11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Antes de codar: o quadro Modbus na unha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A.1 — Monte no papel o quadro que pede os 10 registradores ao PZEM (endereço 0xF8, a partir de 0x0000, função 0x04). Confira contra o req[] do código.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A.2 — Localize onde o CRC-16 é calculado e comparado nos DOIS caminhos. Por que ele é indispensável num fio ao lado de 220 V?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A.3 — Por que corrente e potência ocupam 2 registradores e a tensão só 1?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3291840"/>
            <a:ext cx="5486400" cy="2194560"/>
          </a:xfrm>
          <a:prstGeom prst="roundRect">
            <a:avLst>
              <a:gd name="adj" fmla="val 2500"/>
            </a:avLst>
          </a:prstGeom>
          <a:solidFill>
            <a:srgbClr val="FFF6E8"/>
          </a:solidFill>
          <a:ln w="15875">
            <a:solidFill>
              <a:srgbClr val="F2A4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2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conexões TTL (bancada DESENERGIZADA)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384048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PZEM 5V → ESP32 5V/VIN (alimenta os optoacopladores!)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PZEM GND → ESP32 GND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PZEM TX → ESP32 GPIO16 (RX)  — cruzado!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PZEM RX → ESP32 GPIO17 (TX)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329184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A6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345643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5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4 fios são obrigatórios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3950208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datasheet é enfática: o TTL é PASSIVO. Sem os 4 fios — inclusive o 5 V, que alimenta os optoacopladores de isolação — NÃO há comunicação.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timeouts e o LED TX do PZEM apagado? Suspeite do 5 V ou do par RX/TX trocado: é o "SDA/SCL invertido" da semana 9 em nova roupa.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190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EMBARCADOS</a:t>
            </a:r>
            <a:pPr algn="l" indent="0" marL="0">
              <a:buNone/>
            </a:pPr>
            <a:r>
              <a:rPr lang="en-US" sz="900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Lab Extra — Medidor de energia PZEM-004T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241280" y="64190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EXTRA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11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 nó no 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400800" cy="1828800"/>
          </a:xfrm>
          <a:prstGeom prst="roundRect">
            <a:avLst>
              <a:gd name="adj" fmla="val 2500"/>
            </a:avLst>
          </a:prstGeom>
          <a:solidFill>
            <a:srgbClr val="0A1512"/>
          </a:solidFill>
          <a:ln w="12700">
            <a:solidFill>
              <a:srgbClr val="0C5E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8988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(com o professor energizando a carga)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FE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(2101) pzem: medidor no ar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FE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V=220.3 I=0.412 P=88.1W E=3Wh f=60.0Hz FP=0.79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FE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V=220.1 I=0.410 P=87.6W E=3Wh f=60.0Hz FP=0.80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178040" y="1280160"/>
            <a:ext cx="4434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A6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06640" y="144475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5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ocasionais são toleráveis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06640" y="1938528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"resposta invalida" ou "CRC nao confere" de vez em quando: o código tenta de novo (como o DHT11 do Lab 12).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for SEMPRE, volte às conexões TTL.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0A1512"/>
          </a:solidFill>
          <a:ln w="12700">
            <a:solidFill>
              <a:srgbClr val="0C5E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44728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RPi — veja o nó publicando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7947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FE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mosquitto_sub -t 'energia/#' -v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barramento MQTT é o mesmo do Lab 14: valide-o com as ferramentas antes de culpar o firmware.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190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EMBARCADOS</a:t>
            </a:r>
            <a:pPr algn="l" indent="0" marL="0">
              <a:buNone/>
            </a:pPr>
            <a:r>
              <a:rPr lang="en-US" sz="900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Lab Extra — Medidor de energia PZEM-004T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241280" y="64190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EXTRA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2743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C5E3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C·D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2926080" y="265176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 experimento que surpreende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971800" y="3977640"/>
            <a:ext cx="1280160" cy="45720"/>
          </a:xfrm>
          <a:prstGeom prst="rect">
            <a:avLst/>
          </a:prstGeom>
          <a:solidFill>
            <a:srgbClr val="F2A41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190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EMBARCADOS</a:t>
            </a:r>
            <a:pPr algn="l" indent="0" marL="0">
              <a:buNone/>
            </a:pPr>
            <a:r>
              <a:rPr lang="en-US" sz="900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Lab Extra — Medidor de energia PZEM-004T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241280" y="64190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EXTRA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11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Três cargas, três fatores de potência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280160"/>
                <a:gridCol w="1280160"/>
                <a:gridCol w="1737360"/>
                <a:gridCol w="1737360"/>
                <a:gridCol w="100584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(V)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(A)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ativa (W)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= V·I (VA)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P/S confere?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E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Lâmpada incandescente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Lâmpada de 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Ventilador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383280"/>
            <a:ext cx="11064240" cy="2103120"/>
          </a:xfrm>
          <a:prstGeom prst="roundRect">
            <a:avLst>
              <a:gd name="adj" fmla="val 2609"/>
            </a:avLst>
          </a:prstGeom>
          <a:solidFill>
            <a:srgbClr val="FFF6E8"/>
          </a:solidFill>
          <a:ln w="15875">
            <a:solidFill>
              <a:srgbClr val="F2A41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7240" y="3520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2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discussão obrigatória — o "aha!" do lab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3931920"/>
            <a:ext cx="10607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INCANDESCENTE é resistiva pura: FP ≈ 1, S ≈ P. É a referência.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 VENTILADOR (motor indutivo): FP &lt; 1, S &gt; P — calcule Q = √(S²−P²) para ele (Exemplo E.2).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lâmpada de LED costuma ter FP BAIXO (0,5–0,7) por causa da fonte chaveada barata. Surpresa: um aparelho "econômico" pode maltratar a rede.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C.8 — medindo só corrente e multiplicando por 220, qual carga você MAIS superestimaria? Por quê?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190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EMBARCADOS</a:t>
            </a:r>
            <a:pPr algn="l" indent="0" marL="0">
              <a:buNone/>
            </a:pPr>
            <a:r>
              <a:rPr lang="en-US" sz="900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Lab Extra — Medidor de energia PZEM-004T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241280" y="64190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EXTRA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11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Custo em reais na borda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400800" cy="2011680"/>
          </a:xfrm>
          <a:prstGeom prst="roundRect">
            <a:avLst>
              <a:gd name="adj" fmla="val 2273"/>
            </a:avLst>
          </a:prstGeom>
          <a:solidFill>
            <a:srgbClr val="0A1512"/>
          </a:solidFill>
          <a:ln w="12700">
            <a:solidFill>
              <a:srgbClr val="0C5E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8988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NO RPi (ajuste TARIFA_KWH — EDP ES)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5943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FE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pip3 install paho-mqtt --break-system-packages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FE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painel_energia.py localhost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FE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P=88.1W   FP=0.79  E=0.003kWh  custo=R$0.00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FE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P=1450.0W FP=0.99  E=0.012kWh  custo=R$0.01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178040" y="1280160"/>
            <a:ext cx="4434840" cy="2011680"/>
          </a:xfrm>
          <a:prstGeom prst="roundRect">
            <a:avLst>
              <a:gd name="adj" fmla="val 3636"/>
            </a:avLst>
          </a:prstGeom>
          <a:solidFill>
            <a:srgbClr val="FFF6E8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A6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06640" y="144475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D.10 — a conta que todo mundo deveria saber fazer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06640" y="1938528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Deixe o ventilador rodando ≥ 15 min e acompanhe a energia (Wh) subir.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Extrapole: quanto custaria deixá-lo ligado o mês inteiro? (kWh/mês × tarifa)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A6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68503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5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E (opcional) — o RPi lendo direto por USB-TTL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4178808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ESP32 sobrando, o RPi lê o PZEM por um adaptador USB-TTL (ls /dev/ttyUSB*; python3 pzem_rpi.py /dev/ttyUSB0 localhost).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Mesmas leituras, sem o ESP32 no caminho. Para o relatório: quando faz mais sentido cada arquitetura — nó ESP32 remoto por Wi-Fi × RPi lendo direto? Pense em distância, número de pontos de medição, custo, e na lição das semanas 11–14 sobre MCU × Linux.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190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EMBARCADOS</a:t>
            </a:r>
            <a:pPr algn="l" indent="0" marL="0">
              <a:buNone/>
            </a:pPr>
            <a:r>
              <a:rPr lang="en-US" sz="900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Lab Extra — Medidor de energia PZEM-004T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241280" y="64190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EXTRA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11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Entrega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repositório da dupla no GitHub, até a próxima aula prática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quadro Modbus da Parte A.1 (bytes) + explicação do papel do CRC (A.2).</a:t>
            </a:r>
            <a:endParaRPr lang="en-US" sz="1500" dirty="0"/>
          </a:p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do monitor do ESP32 medindo uma carga real (B.5).</a:t>
            </a:r>
            <a:endParaRPr lang="en-US" sz="1500" dirty="0"/>
          </a:p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das TRÊS cargas preenchida + o cálculo de Q do ventilador + a discussão do FP da lâmpada de LED + a resposta de C.8.</a:t>
            </a:r>
            <a:endParaRPr lang="en-US" sz="1500" dirty="0"/>
          </a:p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energia.csv do painel (≥ 15 min) + a extrapolação de custo mensal do ventilador (D.10).</a:t>
            </a:r>
            <a:endParaRPr lang="en-US" sz="1500" dirty="0"/>
          </a:p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das duas arquiteturas (E.12), se fez a Parte 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89204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0C5E3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48920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(opcional):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Ideias de projeto final a partir daqui: monitor residencial com dashboard web (trilha full-stack); alerta de sobrecarga usando o registrador de alarme (0x0009) + relé; comparador de eficiência ranqueando aparelhos por FP; submedição multiponto com vários PZEM em endereços Modbus distintos.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4190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EMBARCADOS</a:t>
            </a:r>
            <a:pPr algn="l" indent="0" marL="0">
              <a:buNone/>
            </a:pPr>
            <a:r>
              <a:rPr lang="en-US" sz="900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Lab Extra — Medidor de energia PZEM-004T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41280" y="64190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EXTRA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2026-07-22T12:05:44Z</dcterms:created>
  <dcterms:modified xsi:type="dcterms:W3CDTF">2026-07-22T12:05:44Z</dcterms:modified>
</cp:coreProperties>
</file>